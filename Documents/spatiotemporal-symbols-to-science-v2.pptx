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C5A059"/>
                </a:solidFill>
                <a:latin typeface="Arial"/>
              </a:defRPr>
            </a:pPr>
            <a:r>
              <a:t>SPATIOTEMPORAL EPHEMERIS ANALYTICS (SEA)</a:t>
            </a:r>
          </a:p>
          <a:p>
            <a:pPr>
              <a:spcAft>
                <a:spcPts val="1600"/>
              </a:spcAft>
              <a:defRPr sz="4000" b="1">
                <a:solidFill>
                  <a:srgbClr val="FAF9F6"/>
                </a:solidFill>
                <a:latin typeface="Georgia"/>
              </a:defRPr>
            </a:pPr>
            <a:r>
              <a:t>Elevating Astrology from Symbols to Science</a:t>
            </a:r>
          </a:p>
          <a:p>
            <a:pPr>
              <a:defRPr sz="1600">
                <a:solidFill>
                  <a:srgbClr val="60646B"/>
                </a:solidFill>
                <a:latin typeface="Arial"/>
              </a:defRPr>
            </a:pPr>
            <a:r>
              <a:t>A Rigorous, Physics-Backed Strategy for Enterprise Risk &amp; Catastrophe Forecasting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1D1F"/>
                </a:solidFill>
                <a:latin typeface="Georgia"/>
              </a:defRPr>
            </a:pPr>
            <a:r>
              <a:t>The Objective: Shielding Enterprise Assets from Cosmic &amp; Earthly Cycles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2286000" cy="317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C5A059"/>
                </a:solidFill>
                <a:latin typeface="Georgia"/>
              </a:defRPr>
            </a:pPr>
            <a:r>
              <a:t>Enterprise Initiative Focus</a:t>
            </a:r>
          </a:p>
          <a:p>
            <a:pPr>
              <a:spcAft>
                <a:spcPts val="1200"/>
              </a:spcAft>
              <a:defRPr sz="1500">
                <a:solidFill>
                  <a:srgbClr val="1C1D1F"/>
                </a:solidFill>
                <a:latin typeface="Arial"/>
              </a:defRPr>
            </a:pPr>
            <a:r>
              <a:t>In modern global systems, predicting macroeconomic shocks, geoclimatic events, and supply chain collapses is paramount. Rather than relying on traditional historical extrapolation, our objective is to isolate and prove macro-environmental cycles that govern systemic risk.</a:t>
            </a:r>
          </a:p>
          <a:p>
            <a:pPr>
              <a:defRPr sz="1500">
                <a:solidFill>
                  <a:srgbClr val="1C1D1F"/>
                </a:solidFill>
                <a:latin typeface="Arial"/>
              </a:defRPr>
            </a:pPr>
            <a:r>
              <a:t>By translating astronomical orbits into continuous 3D coordinate trajectories, we establish a stable, immutable 'Space GPS.' This physical telemetry is mathematically evaluated against historical earthly data, giving organizations an empirical, auditable risk forecasting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5303520" cy="1097280"/>
          </a:xfrm>
          <a:prstGeom prst="roundRect">
            <a:avLst/>
          </a:prstGeom>
          <a:solidFill>
            <a:srgbClr val="EEEDE9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1C1D1F"/>
                </a:solidFill>
                <a:latin typeface="Georgia"/>
              </a:defRPr>
            </a:pPr>
            <a:r>
              <a:t>🎯  Geophysical Catastrophes</a:t>
            </a:r>
          </a:p>
          <a:p>
            <a:pPr>
              <a:defRPr sz="1100">
                <a:solidFill>
                  <a:srgbClr val="60646B"/>
                </a:solidFill>
                <a:latin typeface="Arial"/>
              </a:defRPr>
            </a:pPr>
            <a:r>
              <a:t>Earthquakes, tectonic fault line stress, and solar geomagnetic storms affecting the power grid.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108960"/>
            <a:ext cx="5303520" cy="1097280"/>
          </a:xfrm>
          <a:prstGeom prst="roundRect">
            <a:avLst/>
          </a:prstGeom>
          <a:solidFill>
            <a:srgbClr val="EEEDE9"/>
          </a:solidFill>
          <a:ln>
            <a:solidFill>
              <a:srgbClr val="EE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1C1D1F"/>
                </a:solidFill>
                <a:latin typeface="Georgia"/>
              </a:defRPr>
            </a:pPr>
            <a:r>
              <a:t>🎯  Financial Black Swans</a:t>
            </a:r>
          </a:p>
          <a:p>
            <a:pPr>
              <a:defRPr sz="1100">
                <a:solidFill>
                  <a:srgbClr val="60646B"/>
                </a:solidFill>
                <a:latin typeface="Arial"/>
              </a:defRPr>
            </a:pPr>
            <a:r>
              <a:t>Systemic liquidity contractions, currency flash crashes, and capital flight cycles.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389120"/>
            <a:ext cx="5303520" cy="1097280"/>
          </a:xfrm>
          <a:prstGeom prst="roundRect">
            <a:avLst/>
          </a:prstGeom>
          <a:solidFill>
            <a:srgbClr val="EEEDE9"/>
          </a:solidFill>
          <a:ln>
            <a:solidFill>
              <a:srgbClr val="EE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1C1D1F"/>
                </a:solidFill>
                <a:latin typeface="Georgia"/>
              </a:defRPr>
            </a:pPr>
            <a:r>
              <a:t>🎯  Operational Disruption</a:t>
            </a:r>
          </a:p>
          <a:p>
            <a:pPr>
              <a:defRPr sz="1100">
                <a:solidFill>
                  <a:srgbClr val="60646B"/>
                </a:solidFill>
                <a:latin typeface="Arial"/>
              </a:defRPr>
            </a:pPr>
            <a:r>
              <a:t>Maritime shipping choke-point blockages and severe weather bottlenecks.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1D1F"/>
                </a:solidFill>
                <a:latin typeface="Georgia"/>
              </a:defRPr>
            </a:pPr>
            <a:r>
              <a:t>The Problem: Traditional Interpretive Astrology Lacks Enterprise Rigor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2286000" cy="317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60646B"/>
                </a:solidFill>
                <a:latin typeface="Georgia"/>
              </a:defRPr>
            </a:pPr>
            <a:r>
              <a:t>Traditional Interpretive Flaws</a:t>
            </a:r>
          </a:p>
          <a:p>
            <a:pPr>
              <a:spcAft>
                <a:spcPts val="400"/>
              </a:spcAft>
              <a:defRPr sz="1400" b="1">
                <a:solidFill>
                  <a:srgbClr val="BA3C2A"/>
                </a:solidFill>
                <a:latin typeface="Arial"/>
              </a:defRPr>
            </a:pPr>
            <a:r>
              <a:t>✕ Vague &amp; Elastic Language</a:t>
            </a:r>
          </a:p>
          <a:p>
            <a:pPr>
              <a:spcAft>
                <a:spcPts val="1200"/>
              </a:spcAft>
              <a:defRPr sz="1250">
                <a:solidFill>
                  <a:srgbClr val="1C1D1F"/>
                </a:solidFill>
                <a:latin typeface="Arial"/>
              </a:defRPr>
            </a:pPr>
            <a:r>
              <a:t>Astrological assertions rely on qualitative narrative interpretations (e.g., 'Mars is angry' or 'Mercury in retrograde'), making objective, consistent testing impossible.</a:t>
            </a:r>
          </a:p>
          <a:p>
            <a:pPr>
              <a:spcAft>
                <a:spcPts val="400"/>
              </a:spcAft>
              <a:defRPr sz="1400" b="1">
                <a:solidFill>
                  <a:srgbClr val="BA3C2A"/>
                </a:solidFill>
                <a:latin typeface="Arial"/>
              </a:defRPr>
            </a:pPr>
            <a:r>
              <a:t>✕ Severe Confirmation Bias</a:t>
            </a:r>
          </a:p>
          <a:p>
            <a:pPr>
              <a:spcAft>
                <a:spcPts val="1200"/>
              </a:spcAft>
              <a:defRPr sz="1250">
                <a:solidFill>
                  <a:srgbClr val="1C1D1F"/>
                </a:solidFill>
                <a:latin typeface="Arial"/>
              </a:defRPr>
            </a:pPr>
            <a:r>
              <a:t>Human memory recalls the few times an alignment coincided with a disaster, while systematically ignoring the thousands of peaceful days with that same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C1D1F"/>
                </a:solidFill>
                <a:latin typeface="Georgia"/>
              </a:defRPr>
            </a:pPr>
            <a:r>
              <a:t>The 'Zero Signal' Statistical Block</a:t>
            </a:r>
          </a:p>
          <a:p>
            <a:pPr>
              <a:spcAft>
                <a:spcPts val="1000"/>
              </a:spcAft>
              <a:defRPr sz="1300">
                <a:solidFill>
                  <a:srgbClr val="1C1D1F"/>
                </a:solidFill>
                <a:latin typeface="Arial"/>
              </a:defRPr>
            </a:pPr>
            <a:r>
              <a:t>• Mathematically Indistinguishable from Noise: When tested over multi-century datasets, traditional astrological alignments consistently yield p-values ≥ 0.05. This statistically proves they behave like pure random white noise.</a:t>
            </a:r>
          </a:p>
          <a:p>
            <a:pPr>
              <a:spcAft>
                <a:spcPts val="1000"/>
              </a:spcAft>
              <a:defRPr sz="1300">
                <a:solidFill>
                  <a:srgbClr val="1C1D1F"/>
                </a:solidFill>
                <a:latin typeface="Arial"/>
              </a:defRPr>
            </a:pPr>
            <a:r>
              <a:t>• The Overfitting Trap: Reshaping qualitative variables into complex formulas creates the 'Curse of Dimensionality.' While a model can be forced to curve-fit historical events perfectly, its accuracy collapses to zero when evaluating live, out-of-sample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4663440"/>
            <a:ext cx="5303520" cy="1280160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100" b="1">
                <a:solidFill>
                  <a:srgbClr val="C5A059"/>
                </a:solidFill>
                <a:latin typeface="Georgia"/>
              </a:defRPr>
            </a:pPr>
            <a:r>
              <a:t>Enterprise Requirement:</a:t>
            </a:r>
            <a:br/>
            <a:r>
              <a:t>To use celestial paths as a core kernel, we must completely strip away symbolic labels and force the data into a strict mathematical and physical cage.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1D1F"/>
                </a:solidFill>
                <a:latin typeface="Georgia"/>
              </a:defRPr>
            </a:pPr>
            <a:r>
              <a:t>Elevating Astrology: Translating Legacy Symbols into Hard Science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2286000" cy="317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236415"/>
              </a:tblGrid>
              <a:tr h="877824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AF9F6"/>
                          </a:solidFill>
                          <a:latin typeface="Georgia"/>
                        </a:rPr>
                        <a:t>Legacy Astrological Concept</a:t>
                      </a:r>
                    </a:p>
                  </a:txBody>
                  <a:tcPr>
                    <a:solidFill>
                      <a:srgbClr val="191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AF9F6"/>
                          </a:solidFill>
                          <a:latin typeface="Georgia"/>
                        </a:rPr>
                        <a:t>Empirical Data Science Equivalent</a:t>
                      </a:r>
                    </a:p>
                  </a:txBody>
                  <a:tcPr>
                    <a:solidFill>
                      <a:srgbClr val="191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AF9F6"/>
                          </a:solidFill>
                          <a:latin typeface="Georgia"/>
                        </a:rPr>
                        <a:t>Layman's Interpretation (What It Means)</a:t>
                      </a:r>
                    </a:p>
                  </a:txBody>
                  <a:tcPr>
                    <a:solidFill>
                      <a:srgbClr val="191B1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1D1F"/>
                          </a:solidFill>
                          <a:latin typeface="Georgia"/>
                        </a:rPr>
                        <a:t>Qualitative Signs &amp; Houses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C1D1F"/>
                          </a:solidFill>
                          <a:latin typeface="Georgia"/>
                        </a:rPr>
                        <a:t>(e.g., 'Mars in Aries')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5A059"/>
                          </a:solidFill>
                          <a:latin typeface="Arial"/>
                        </a:rPr>
                        <a:t>Astronomical Ephemeris Telemetry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C5A059"/>
                          </a:solidFill>
                          <a:latin typeface="Arial"/>
                        </a:rPr>
                        <a:t>(3D Geocentric Cartesian Coordinates)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D1F"/>
                          </a:solidFill>
                          <a:latin typeface="Arial"/>
                        </a:rPr>
                        <a:t>Replacing Horoscopes with Hard Math: Tracking physical planetary coordinates via NASA SPICE, treating space as a cosmic sensor network.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1D1F"/>
                          </a:solidFill>
                          <a:latin typeface="Georgia"/>
                        </a:rPr>
                        <a:t>Planetary Aspects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C1D1F"/>
                          </a:solidFill>
                          <a:latin typeface="Georgia"/>
                        </a:rPr>
                        <a:t>(e.g., Squares, Conjunctions)</a:t>
                      </a:r>
                    </a:p>
                  </a:txBody>
                  <a:tcPr>
                    <a:solidFill>
                      <a:srgbClr val="EE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5A059"/>
                          </a:solidFill>
                          <a:latin typeface="Arial"/>
                        </a:rPr>
                        <a:t>Geometric Angular Separations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C5A059"/>
                          </a:solidFill>
                          <a:latin typeface="Arial"/>
                        </a:rPr>
                        <a:t>(Exact Vector Trigonometry θ)</a:t>
                      </a:r>
                    </a:p>
                  </a:txBody>
                  <a:tcPr>
                    <a:solidFill>
                      <a:srgbClr val="EE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D1F"/>
                          </a:solidFill>
                          <a:latin typeface="Arial"/>
                        </a:rPr>
                        <a:t>Vector Angles: Instead of symbolic alignments, the engine calculates exact angular separations between physical celestial trajectories.</a:t>
                      </a:r>
                    </a:p>
                  </a:txBody>
                  <a:tcPr>
                    <a:solidFill>
                      <a:srgbClr val="EEEDE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1D1F"/>
                          </a:solidFill>
                          <a:latin typeface="Georgia"/>
                        </a:rPr>
                        <a:t>Retrospective Interpretations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C1D1F"/>
                          </a:solidFill>
                          <a:latin typeface="Georgia"/>
                        </a:rPr>
                        <a:t>(Retroactive curve fitting)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5A059"/>
                          </a:solidFill>
                          <a:latin typeface="Arial"/>
                        </a:rPr>
                        <a:t>Bayesian Conditional Probability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C5A059"/>
                          </a:solidFill>
                          <a:latin typeface="Arial"/>
                        </a:rPr>
                        <a:t>(Risk Lift Validation Engine)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D1F"/>
                          </a:solidFill>
                          <a:latin typeface="Arial"/>
                        </a:rPr>
                        <a:t>The Coincidence Detector: Compares crisis alignment rates against a century of peaceful baseline days to instantly block random coincidences.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1D1F"/>
                          </a:solidFill>
                          <a:latin typeface="Georgia"/>
                        </a:rPr>
                        <a:t>Arbitrary Planetary Influence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C1D1F"/>
                          </a:solidFill>
                          <a:latin typeface="Georgia"/>
                        </a:rPr>
                        <a:t>(Qualitative, magical causation)</a:t>
                      </a:r>
                    </a:p>
                  </a:txBody>
                  <a:tcPr>
                    <a:solidFill>
                      <a:srgbClr val="EE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5A059"/>
                          </a:solidFill>
                          <a:latin typeface="Arial"/>
                        </a:rPr>
                        <a:t>Domain Ontology &amp; Taxonomy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C5A059"/>
                          </a:solidFill>
                          <a:latin typeface="Arial"/>
                        </a:rPr>
                        <a:t>(Decoupled Time-Stamped Nodes in Neo4j)</a:t>
                      </a:r>
                    </a:p>
                  </a:txBody>
                  <a:tcPr>
                    <a:solidFill>
                      <a:srgbClr val="EE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D1F"/>
                          </a:solidFill>
                          <a:latin typeface="Arial"/>
                        </a:rPr>
                        <a:t>The Grammar Cop: Structurally blocks the AI from making unscientific leaps. It logs only objective physical coordinates and earthly stress shared at exact timestamps.</a:t>
                      </a:r>
                    </a:p>
                  </a:txBody>
                  <a:tcPr>
                    <a:solidFill>
                      <a:srgbClr val="EEED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1D1F"/>
                </a:solidFill>
                <a:latin typeface="Georgia"/>
              </a:defRPr>
            </a:pPr>
            <a:r>
              <a:t>The Proposed Solution: Five Core Analytical Mechanisms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2286000" cy="317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066543" cy="4206240"/>
          </a:xfrm>
          <a:prstGeom prst="roundRect">
            <a:avLst/>
          </a:prstGeom>
          <a:solidFill>
            <a:srgbClr val="EEEDE9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1000"/>
              </a:spcAft>
              <a:defRPr sz="2800" b="1">
                <a:solidFill>
                  <a:srgbClr val="C5A059"/>
                </a:solidFill>
                <a:latin typeface="Georgia"/>
              </a:defRPr>
            </a:pPr>
            <a:r>
              <a:t>01</a:t>
            </a:r>
          </a:p>
          <a:p>
            <a:pPr>
              <a:spcAft>
                <a:spcPts val="200"/>
              </a:spcAft>
              <a:defRPr sz="1400" b="1">
                <a:solidFill>
                  <a:srgbClr val="1C1D1F"/>
                </a:solidFill>
                <a:latin typeface="Georgia"/>
              </a:defRPr>
            </a:pPr>
            <a:r>
              <a:t>Space GPS</a:t>
            </a:r>
          </a:p>
          <a:p>
            <a:pPr>
              <a:spcAft>
                <a:spcPts val="1000"/>
              </a:spcAft>
              <a:defRPr sz="1000" b="1">
                <a:solidFill>
                  <a:srgbClr val="60646B"/>
                </a:solidFill>
                <a:latin typeface="Arial"/>
              </a:defRPr>
            </a:pPr>
            <a:r>
              <a:t>NASA-Grade Telemetry</a:t>
            </a:r>
          </a:p>
          <a:p>
            <a:pPr>
              <a:defRPr sz="1050">
                <a:solidFill>
                  <a:srgbClr val="1C1D1F"/>
                </a:solidFill>
                <a:latin typeface="Arial"/>
              </a:defRPr>
            </a:pPr>
            <a:r>
              <a:t>Calculates continuous 3D coordinate paths and declination vectors via NASA SPICE engines instead of subjective, symbolic zodiac configurations.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98063" y="1828800"/>
            <a:ext cx="2066543" cy="4206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E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1000"/>
              </a:spcAft>
              <a:defRPr sz="2800" b="1">
                <a:solidFill>
                  <a:srgbClr val="C5A059"/>
                </a:solidFill>
                <a:latin typeface="Georgia"/>
              </a:defRPr>
            </a:pPr>
            <a:r>
              <a:t>02</a:t>
            </a:r>
          </a:p>
          <a:p>
            <a:pPr>
              <a:spcAft>
                <a:spcPts val="200"/>
              </a:spcAft>
              <a:defRPr sz="1400" b="1">
                <a:solidFill>
                  <a:srgbClr val="1C1D1F"/>
                </a:solidFill>
                <a:latin typeface="Georgia"/>
              </a:defRPr>
            </a:pPr>
            <a:r>
              <a:t>Coincidence Detector</a:t>
            </a:r>
          </a:p>
          <a:p>
            <a:pPr>
              <a:spcAft>
                <a:spcPts val="1000"/>
              </a:spcAft>
              <a:defRPr sz="1000" b="1">
                <a:solidFill>
                  <a:srgbClr val="60646B"/>
                </a:solidFill>
                <a:latin typeface="Arial"/>
              </a:defRPr>
            </a:pPr>
            <a:r>
              <a:t>Negative Sampling</a:t>
            </a:r>
          </a:p>
          <a:p>
            <a:pPr>
              <a:defRPr sz="1050">
                <a:solidFill>
                  <a:srgbClr val="1C1D1F"/>
                </a:solidFill>
                <a:latin typeface="Arial"/>
              </a:defRPr>
            </a:pPr>
            <a:r>
              <a:t>Compares alignments across 100 years of data. If a pattern occurs on normal days too, the engine blocks the 'rule' so the AI does not panic.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47486" y="1828800"/>
            <a:ext cx="2066543" cy="4206240"/>
          </a:xfrm>
          <a:prstGeom prst="roundRect">
            <a:avLst/>
          </a:prstGeom>
          <a:solidFill>
            <a:srgbClr val="EEEDE9"/>
          </a:solidFill>
          <a:ln w="6350">
            <a:solidFill>
              <a:srgbClr val="EE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1000"/>
              </a:spcAft>
              <a:defRPr sz="2800" b="1">
                <a:solidFill>
                  <a:srgbClr val="C5A059"/>
                </a:solidFill>
                <a:latin typeface="Georgia"/>
              </a:defRPr>
            </a:pPr>
            <a:r>
              <a:t>03</a:t>
            </a:r>
          </a:p>
          <a:p>
            <a:pPr>
              <a:spcAft>
                <a:spcPts val="200"/>
              </a:spcAft>
              <a:defRPr sz="1400" b="1">
                <a:solidFill>
                  <a:srgbClr val="1C1D1F"/>
                </a:solidFill>
                <a:latin typeface="Georgia"/>
              </a:defRPr>
            </a:pPr>
            <a:r>
              <a:t>Detective Board</a:t>
            </a:r>
          </a:p>
          <a:p>
            <a:pPr>
              <a:spcAft>
                <a:spcPts val="1000"/>
              </a:spcAft>
              <a:defRPr sz="1000" b="1">
                <a:solidFill>
                  <a:srgbClr val="60646B"/>
                </a:solidFill>
                <a:latin typeface="Arial"/>
              </a:defRPr>
            </a:pPr>
            <a:r>
              <a:t>Strict Neo4j Ontology</a:t>
            </a:r>
          </a:p>
          <a:p>
            <a:pPr>
              <a:defRPr sz="1050">
                <a:solidFill>
                  <a:srgbClr val="1C1D1F"/>
                </a:solidFill>
                <a:latin typeface="Arial"/>
              </a:defRPr>
            </a:pPr>
            <a:r>
              <a:t>Acts as a structural grammar gatekeeper. It keeps space nodes segregated from Earth systems, connecting them only via precise time intersects.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96909" y="1828800"/>
            <a:ext cx="2066543" cy="4206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E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1000"/>
              </a:spcAft>
              <a:defRPr sz="2800" b="1">
                <a:solidFill>
                  <a:srgbClr val="C5A059"/>
                </a:solidFill>
                <a:latin typeface="Georgia"/>
              </a:defRPr>
            </a:pPr>
            <a:r>
              <a:t>04</a:t>
            </a:r>
          </a:p>
          <a:p>
            <a:pPr>
              <a:spcAft>
                <a:spcPts val="200"/>
              </a:spcAft>
              <a:defRPr sz="1400" b="1">
                <a:solidFill>
                  <a:srgbClr val="1C1D1F"/>
                </a:solidFill>
                <a:latin typeface="Georgia"/>
              </a:defRPr>
            </a:pPr>
            <a:r>
              <a:t>Smart Filter</a:t>
            </a:r>
          </a:p>
          <a:p>
            <a:pPr>
              <a:spcAft>
                <a:spcPts val="1000"/>
              </a:spcAft>
              <a:defRPr sz="1000" b="1">
                <a:solidFill>
                  <a:srgbClr val="60646B"/>
                </a:solidFill>
                <a:latin typeface="Arial"/>
              </a:defRPr>
            </a:pPr>
            <a:r>
              <a:t>PyTorch GAT</a:t>
            </a:r>
          </a:p>
          <a:p>
            <a:pPr>
              <a:defRPr sz="1050">
                <a:solidFill>
                  <a:srgbClr val="1C1D1F"/>
                </a:solidFill>
                <a:latin typeface="Arial"/>
              </a:defRPr>
            </a:pPr>
            <a:r>
              <a:t>Graph Attention Neural Networks dynamically evaluate links, driving unproven celestial variable weights down to absolute zero during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46332" y="1828800"/>
            <a:ext cx="2066543" cy="4206240"/>
          </a:xfrm>
          <a:prstGeom prst="roundRect">
            <a:avLst/>
          </a:prstGeom>
          <a:solidFill>
            <a:srgbClr val="EEEDE9"/>
          </a:solidFill>
          <a:ln w="6350">
            <a:solidFill>
              <a:srgbClr val="EE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1000"/>
              </a:spcAft>
              <a:defRPr sz="2800" b="1">
                <a:solidFill>
                  <a:srgbClr val="C5A059"/>
                </a:solidFill>
                <a:latin typeface="Georgia"/>
              </a:defRPr>
            </a:pPr>
            <a:r>
              <a:t>05</a:t>
            </a:r>
          </a:p>
          <a:p>
            <a:pPr>
              <a:spcAft>
                <a:spcPts val="200"/>
              </a:spcAft>
              <a:defRPr sz="1400" b="1">
                <a:solidFill>
                  <a:srgbClr val="1C1D1F"/>
                </a:solidFill>
                <a:latin typeface="Georgia"/>
              </a:defRPr>
            </a:pPr>
            <a:r>
              <a:t>Time-Aware AI</a:t>
            </a:r>
          </a:p>
          <a:p>
            <a:pPr>
              <a:spcAft>
                <a:spcPts val="1000"/>
              </a:spcAft>
              <a:defRPr sz="1000" b="1">
                <a:solidFill>
                  <a:srgbClr val="60646B"/>
                </a:solidFill>
                <a:latin typeface="Arial"/>
              </a:defRPr>
            </a:pPr>
            <a:r>
              <a:t>Evolving History</a:t>
            </a:r>
          </a:p>
          <a:p>
            <a:pPr>
              <a:defRPr sz="1050">
                <a:solidFill>
                  <a:srgbClr val="1C1D1F"/>
                </a:solidFill>
                <a:latin typeface="Arial"/>
              </a:defRPr>
            </a:pPr>
            <a:r>
              <a:t>Transformers learn that global risk levels change across eras, adapting automatically so predictions remain modern, subtle, and responsive.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1D1F"/>
                </a:solidFill>
                <a:latin typeface="Georgia"/>
              </a:defRPr>
            </a:pPr>
            <a:r>
              <a:t>The Systems Architecture: A Unified Four-Layer Technical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2286000" cy="317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1094415" cy="914400"/>
          </a:xfrm>
          <a:prstGeom prst="rect">
            <a:avLst/>
          </a:prstGeom>
          <a:solidFill>
            <a:srgbClr val="EEEDE9"/>
          </a:solidFill>
          <a:ln w="6350">
            <a:solidFill>
              <a:srgbClr val="EE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  <a:defRPr sz="1300" b="1">
                <a:solidFill>
                  <a:srgbClr val="1C1D1F"/>
                </a:solidFill>
                <a:latin typeface="Georgia"/>
              </a:defRPr>
            </a:pPr>
            <a:r>
              <a:t>⚙️ Layer 1: Ingestion &amp; Telemetry</a:t>
            </a:r>
          </a:p>
          <a:p>
            <a:pPr>
              <a:defRPr sz="1100">
                <a:solidFill>
                  <a:srgbClr val="60646B"/>
                </a:solidFill>
                <a:latin typeface="Arial"/>
              </a:defRPr>
            </a:pPr>
            <a:r>
              <a:t>Convert abstract celestial variables into high-precision, continuous 3D state vectors (NASA SPICE/Skyfield) and pair with real-world Earth telemetry API feeds.  |  </a:t>
            </a:r>
            <a:r>
              <a:rPr b="1">
                <a:solidFill>
                  <a:srgbClr val="C5A059"/>
                </a:solidFill>
              </a:rPr>
              <a:t>Tech: NASA SPICE / Geo-USGS / Bloomberg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11094415" cy="914400"/>
          </a:xfrm>
          <a:prstGeom prst="rect">
            <a:avLst/>
          </a:prstGeom>
          <a:solidFill>
            <a:srgbClr val="EEEDE9"/>
          </a:solidFill>
          <a:ln w="6350">
            <a:solidFill>
              <a:srgbClr val="EE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  <a:defRPr sz="1300" b="1">
                <a:solidFill>
                  <a:srgbClr val="1C1D1F"/>
                </a:solidFill>
                <a:latin typeface="Georgia"/>
              </a:defRPr>
            </a:pPr>
            <a:r>
              <a:t>⚙️ Layer 2: Semantic Graph (Neo4j)</a:t>
            </a:r>
          </a:p>
          <a:p>
            <a:pPr>
              <a:defRPr sz="1100">
                <a:solidFill>
                  <a:srgbClr val="60646B"/>
                </a:solidFill>
                <a:latin typeface="Arial"/>
              </a:defRPr>
            </a:pPr>
            <a:r>
              <a:t>Structure datasets into a unified Knowledge Graph. Enforce a rigid Ontology to restrict planet-disaster links exclusively through shared Temporal timestamps.  |  </a:t>
            </a:r>
            <a:r>
              <a:rPr b="1">
                <a:solidFill>
                  <a:srgbClr val="C5A059"/>
                </a:solidFill>
              </a:rPr>
              <a:t>Tech: Neo4j / Cypher Graph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1094415" cy="914400"/>
          </a:xfrm>
          <a:prstGeom prst="rect">
            <a:avLst/>
          </a:prstGeom>
          <a:solidFill>
            <a:srgbClr val="EEEDE9"/>
          </a:solidFill>
          <a:ln w="6350">
            <a:solidFill>
              <a:srgbClr val="EE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  <a:defRPr sz="1300" b="1">
                <a:solidFill>
                  <a:srgbClr val="1C1D1F"/>
                </a:solidFill>
                <a:latin typeface="Georgia"/>
              </a:defRPr>
            </a:pPr>
            <a:r>
              <a:t>⚙️ Layer 3: Statistical pre-Filter</a:t>
            </a:r>
          </a:p>
          <a:p>
            <a:pPr>
              <a:defRPr sz="1100">
                <a:solidFill>
                  <a:srgbClr val="60646B"/>
                </a:solidFill>
                <a:latin typeface="Arial"/>
              </a:defRPr>
            </a:pPr>
            <a:r>
              <a:t>Execute Bayesian Conditional Probability (Risk Lift) and Chi-Square tests to pre-evaluate dependencies, instantly flagging coincidental white noise.  |  </a:t>
            </a:r>
            <a:r>
              <a:rPr b="1">
                <a:solidFill>
                  <a:srgbClr val="C5A059"/>
                </a:solidFill>
              </a:rPr>
              <a:t>Tech: Scipy Stats / Bayesian Lift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120640"/>
            <a:ext cx="11094415" cy="914400"/>
          </a:xfrm>
          <a:prstGeom prst="rect">
            <a:avLst/>
          </a:prstGeom>
          <a:solidFill>
            <a:srgbClr val="EEEDE9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  <a:defRPr sz="1300" b="1">
                <a:solidFill>
                  <a:srgbClr val="1C1D1F"/>
                </a:solidFill>
                <a:latin typeface="Georgia"/>
              </a:defRPr>
            </a:pPr>
            <a:r>
              <a:t>⚙️ Layer 4: PyTorch Graph AI</a:t>
            </a:r>
          </a:p>
          <a:p>
            <a:pPr>
              <a:defRPr sz="1100">
                <a:solidFill>
                  <a:srgbClr val="60646B"/>
                </a:solidFill>
                <a:latin typeface="Arial"/>
              </a:defRPr>
            </a:pPr>
            <a:r>
              <a:t>Map graph paths to dense vector embeddings (GraphSAGE) and use Graph Attention Networks (GAT) to drive unproven celestial weights to absolute zero.  |  </a:t>
            </a:r>
            <a:r>
              <a:rPr b="1">
                <a:solidFill>
                  <a:srgbClr val="C5A059"/>
                </a:solidFill>
              </a:rPr>
              <a:t>Tech: PyTorch Geometric / GPU Parallelization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AF9F6"/>
                </a:solidFill>
                <a:latin typeface="Georgia"/>
              </a:defRPr>
            </a:pPr>
            <a:r>
              <a:t>The Strategic Payout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194560"/>
            <a:ext cx="2286000" cy="317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C5A059"/>
                </a:solidFill>
                <a:latin typeface="Georgia"/>
              </a:defRPr>
            </a:pPr>
            <a:r>
              <a:t>Empirical Forecasting Realized</a:t>
            </a:r>
          </a:p>
          <a:p>
            <a:pPr>
              <a:spcAft>
                <a:spcPts val="2000"/>
              </a:spcAft>
              <a:defRPr sz="1600">
                <a:solidFill>
                  <a:srgbClr val="FAF9F6"/>
                </a:solidFill>
                <a:latin typeface="Arial"/>
              </a:defRPr>
            </a:pPr>
            <a:r>
              <a:t>Spatiotemporal Ephemeris Analytics bridges the gap between raw planetary geometry and actionable risk engineering. By standardizing coordinate physics, establishing strict semantic boundaries, and applying graph learning, we prove whether a correlation holds predictive signal or is merely coincidental noise.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389120"/>
            <a:ext cx="10362895" cy="1371600"/>
          </a:xfrm>
          <a:prstGeom prst="roundRect">
            <a:avLst/>
          </a:prstGeom>
          <a:solidFill>
            <a:srgbClr val="282A2E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C5A059"/>
                </a:solidFill>
                <a:latin typeface="Georgia"/>
              </a:defRPr>
            </a:pPr>
            <a:r>
              <a:t>📱  Real-World Inference Result</a:t>
            </a:r>
          </a:p>
          <a:p>
            <a:pPr>
              <a:defRPr sz="1300">
                <a:solidFill>
                  <a:srgbClr val="FAF9F6"/>
                </a:solidFill>
                <a:latin typeface="Arial"/>
              </a:defRPr>
            </a:pPr>
            <a:r>
              <a:t>Instead of theoretical reports, the system delivers low-latency automated actions directly into your ERP dashboard or a manager's phone:</a:t>
            </a:r>
            <a:br/>
            <a:r>
              <a:t>'CRITICAL WARNING: High space-weather flux paired with maritime congestion triggers 87% risk of supply chain delays. Reroute cargo via Port B immediately.'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